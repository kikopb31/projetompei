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Merriweather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2F8A85-F142-4FC5-8C62-AB5D3AEC1235}">
  <a:tblStyle styleId="{4D2F8A85-F142-4FC5-8C62-AB5D3AEC12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Merriweather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bold.fntdata"/><Relationship Id="rId18" Type="http://schemas.openxmlformats.org/officeDocument/2006/relationships/font" Target="fonts/Merriweath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21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975484" y="1592609"/>
            <a:ext cx="824103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 de Deteção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 de Plágio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171700" y="3583334"/>
            <a:ext cx="7848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FF9C"/>
                </a:solidFill>
                <a:latin typeface="DM Sans"/>
                <a:ea typeface="DM Sans"/>
                <a:cs typeface="DM Sans"/>
                <a:sym typeface="DM Sans"/>
              </a:rPr>
              <a:t>Projeto de M</a:t>
            </a:r>
            <a:r>
              <a:rPr lang="en-US" sz="2100">
                <a:solidFill>
                  <a:srgbClr val="00FF9C"/>
                </a:solidFill>
                <a:latin typeface="DM Sans"/>
                <a:ea typeface="DM Sans"/>
                <a:cs typeface="DM Sans"/>
                <a:sym typeface="DM Sans"/>
              </a:rPr>
              <a:t>PEI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00FF9C"/>
                </a:solidFill>
                <a:latin typeface="DM Sans"/>
                <a:ea typeface="DM Sans"/>
                <a:cs typeface="DM Sans"/>
                <a:sym typeface="DM Sans"/>
              </a:rPr>
              <a:t> Ano Letivo: 25/26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71700" y="4817715"/>
            <a:ext cx="784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Cristiane Moreno (128076) &amp; Francisco Baptista (124677)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524500" y="2137469"/>
            <a:ext cx="1143000" cy="57150"/>
          </a:xfrm>
          <a:prstGeom prst="rect">
            <a:avLst/>
          </a:prstGeom>
          <a:solidFill>
            <a:srgbClr val="00FF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380535" y="2527994"/>
            <a:ext cx="743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Introdução 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480494"/>
            <a:ext cx="7620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3E62"/>
                </a:solidFill>
                <a:latin typeface="DM Sans"/>
                <a:ea typeface="DM Sans"/>
                <a:cs typeface="DM Sans"/>
                <a:sym typeface="DM Sans"/>
              </a:rPr>
              <a:t> Este projeto consiste no d</a:t>
            </a:r>
            <a:r>
              <a:rPr b="0" i="0" lang="en-US" sz="1800" u="none" cap="none" strike="noStrike">
                <a:solidFill>
                  <a:srgbClr val="1E3E62"/>
                </a:solidFill>
                <a:latin typeface="DM Sans"/>
                <a:ea typeface="DM Sans"/>
                <a:cs typeface="DM Sans"/>
                <a:sym typeface="DM Sans"/>
              </a:rPr>
              <a:t>esenvolvimento, teste e avaliação de um sistema baseado em métodos probabilísticos, orquestrado através de uma arquitetura inteligente e escalável em três camadas sequenciais.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57400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057400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057400"/>
            <a:ext cx="3429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1575911" y="3305175"/>
            <a:ext cx="1420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Filtro de Bloom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3667125"/>
            <a:ext cx="2857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Primeira linha de defesa responsável por </a:t>
            </a: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intercetar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instantaneamente cópias exatas de ficheiros já registados no sistema.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545931" y="3305175"/>
            <a:ext cx="11001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Naïve Bayes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4667250" y="3667125"/>
            <a:ext cx="2857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Módulo estatístico focado na análise estilística e de frequência de vocabulário, apto a detetar correspondências de autoria.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480946" y="3305175"/>
            <a:ext cx="8501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MinHash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477250" y="3667125"/>
            <a:ext cx="2857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Módulo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projetado para calcular a similaridade de Jaccard, expondo plágio parcial e paráfrases complexas.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24955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75" y="24955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5962" y="249555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As Três Camadas de Filtragem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71500" y="188118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Para garantir a isenção de ruído e focar a análise estritamente no conteúdo textual puro, o sistema submete todos os documentos a um pipeline de normalização uniforme: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47750" y="329088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Conversão para Minúsculas: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Todos os caracteres são convertidos.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47750" y="4157662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Remoção de Pontuação: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Eliminação de símbolos através de RegEx.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47750" y="5024437"/>
            <a:ext cx="48101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Normalização de Espaços: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Supressão de espaços e tabulações redundantes.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333750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0052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67300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Pré-Processamento de Dados</a:t>
            </a:r>
            <a:endParaRPr/>
          </a:p>
        </p:txBody>
      </p:sp>
      <p:pic>
        <p:nvPicPr>
          <p:cNvPr id="123" name="Google Shape;123;p16" title="processamento-de-dado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9025" y="1452563"/>
            <a:ext cx="6029323" cy="401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/>
        </p:nvSpPr>
        <p:spPr>
          <a:xfrm>
            <a:off x="571500" y="571500"/>
            <a:ext cx="5550693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Guia de Execução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2243137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FF9C"/>
                </a:solidFill>
                <a:latin typeface="Merriweather"/>
                <a:ea typeface="Merriweather"/>
                <a:cs typeface="Merriweather"/>
                <a:sym typeface="Merriweather"/>
              </a:rPr>
              <a:t>Ambiente MATLAB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71500" y="2767012"/>
            <a:ext cx="528637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O ambiente de software exige a execução inicial do comando setup na consola, garantindo o carregamento imediato de todas as subpastas e dependências core do projeto.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4138612"/>
            <a:ext cx="5286375" cy="1247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Os componentes possuem validação individual através dos respetivos </a:t>
            </a:r>
            <a:r>
              <a:rPr b="0" i="1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scripts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: teste_bloom_filter, teste_naive_bayes e teste_minhash. A orquestração unificada de todas as métricas ocorre invocando o módulo demo_main.</a:t>
            </a:r>
            <a:endParaRPr/>
          </a:p>
        </p:txBody>
      </p:sp>
      <p:pic>
        <p:nvPicPr>
          <p:cNvPr id="132" name="Google Shape;132;p17" title="Captura de ecrã 2026-06-01 1954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3900" y="1678350"/>
            <a:ext cx="6054900" cy="37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6023900" y="1678350"/>
            <a:ext cx="6054900" cy="3708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FF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71637"/>
            <a:ext cx="5286375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71637"/>
            <a:ext cx="5286375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7852" y="3357562"/>
            <a:ext cx="221352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1303" y="3662362"/>
            <a:ext cx="911869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839390" y="2052637"/>
            <a:ext cx="4750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Filtro de Bloom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952500" y="2462212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Parametrizado com 4 funções independentes num vetor de 2000 bits.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52500" y="4052887"/>
            <a:ext cx="4524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Testes de carga com 1000 cadeias aleatórias resultaram numa taxa de erro de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0.00%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(falsos positivos nulos), demonstrando um equilíbrio perfeito de distribuição.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602015" y="2052637"/>
            <a:ext cx="4750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Classificador Naïve Bayes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715125" y="2462212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Modelo validado com Bag-of-Words usando 6 documentos originais e 6 plagiados. A Suavização de Laplace foi aplicada: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715125" y="4357687"/>
            <a:ext cx="4524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transição para a escala logarítmica preveniu anomalias de </a:t>
            </a: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underflow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classificando com precisão total frases de controlo contra vocabulário plagiado.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98352" y="3557587"/>
            <a:ext cx="183252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11803" y="3862387"/>
            <a:ext cx="530869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de Teste: Bloom &amp; Bayes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571500" y="188595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análise baseou-se na fragmentação de textos em </a:t>
            </a: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shingles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 Aferiu-se o impacto da variação de </a:t>
            </a: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hashes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no tempo e erro de estimativa: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71500" y="2686050"/>
            <a:ext cx="11049000" cy="3200400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9"/>
          <p:cNvGraphicFramePr/>
          <p:nvPr/>
        </p:nvGraphicFramePr>
        <p:xfrm>
          <a:off x="571500" y="2686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{4D2F8A85-F142-4FC5-8C62-AB5D3AEC1235}</a:tableStyleId>
              </a:tblPr>
              <a:tblGrid>
                <a:gridCol w="3647625"/>
                <a:gridCol w="3442100"/>
                <a:gridCol w="39354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8FAF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Número de Funções de Hash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8FAF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Tempo de Execução Médio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8FAFC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Erro Médio Absoluto vs Jaccard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92C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0.4300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0.0140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0.8878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0.0104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200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1.4574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36E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4.2315 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9"/>
          <p:cNvSpPr/>
          <p:nvPr/>
        </p:nvSpPr>
        <p:spPr>
          <a:xfrm>
            <a:off x="595312" y="3328987"/>
            <a:ext cx="364762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242941" y="3328987"/>
            <a:ext cx="344209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7685037" y="3328987"/>
            <a:ext cx="39354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95312" y="3967162"/>
            <a:ext cx="364762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4242941" y="3967162"/>
            <a:ext cx="344209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685037" y="3967162"/>
            <a:ext cx="39354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595312" y="4605337"/>
            <a:ext cx="364762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242941" y="4605337"/>
            <a:ext cx="344209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7685037" y="4605337"/>
            <a:ext cx="39354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95312" y="5243512"/>
            <a:ext cx="364762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242941" y="5243512"/>
            <a:ext cx="344209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685037" y="5243512"/>
            <a:ext cx="3935462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MinHash: Impacto da Dispersão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4800600"/>
            <a:ext cx="905916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2867025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FF9C"/>
                </a:solidFill>
                <a:latin typeface="Merriweather"/>
                <a:ea typeface="Merriweather"/>
                <a:cs typeface="Merriweather"/>
                <a:sym typeface="Merriweather"/>
              </a:rPr>
              <a:t>200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4533900"/>
            <a:ext cx="5286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Funções de Hash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334125" y="24193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O Equilíbrio MinHash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334125" y="2638425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 métrica prova o teorema central: aumentar funções reduz o erro, mas </a:t>
            </a:r>
            <a:r>
              <a:rPr lang="en-US" sz="1500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aumenta linearmente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o custo computacional do hardware.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6334125" y="36957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Ao processar </a:t>
            </a:r>
            <a:r>
              <a:rPr b="0" i="1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word shingles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de dimensão dois, o valor adotado garantiu a agilidade de 1.45 segundos, restringindo o erro residual de Jaccard a uns residuais 0.65%.</a:t>
            </a:r>
            <a:endParaRPr/>
          </a:p>
        </p:txBody>
      </p:sp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5000625"/>
            <a:ext cx="524916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Ponto Ideal de Convergência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/>
        </p:nvSpPr>
        <p:spPr>
          <a:xfrm>
            <a:off x="1047750" y="2152650"/>
            <a:ext cx="10572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1. Filtro de Bloom (Descarte Rápido):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Teste imediato ao ID do documento. Se detetado, corta a cadeia e devolve: </a:t>
            </a:r>
            <a:r>
              <a:rPr b="0" i="1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"PLÁGIO CONFIRMADO (Cópia Exata)"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047750" y="3019425"/>
            <a:ext cx="10572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2. MinHash (Similaridade Estrutural):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Se exceder o limiar empírico de tolerância estabelecido, é ativado o estado: </a:t>
            </a:r>
            <a:r>
              <a:rPr b="0" i="1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"PLÁGIO PARCIAL DETETADO"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047750" y="3886200"/>
            <a:ext cx="10572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3. Naïve Bayes (Auditoria Estilística):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Documentos dissimulados disparam picos de probabilidade. Ocorrendo, soa um </a:t>
            </a:r>
            <a:r>
              <a:rPr b="0" i="1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"ALERTA DE ANOMALIA ESTILÍSTICA"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47750" y="4752975"/>
            <a:ext cx="10572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4. Homologação Final: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Sobrevivendo incólume aos três vetores probabilísticos, o sistema chancela com: </a:t>
            </a:r>
            <a:r>
              <a:rPr b="0" i="1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"DOCUMENTO ORIGINAL / AUTÊNTICO"</a:t>
            </a:r>
            <a:r>
              <a:rPr b="0" i="0" lang="en-US" sz="16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955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22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2906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 (demo)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1650" y="5538787"/>
            <a:ext cx="1028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485775" y="3957637"/>
            <a:ext cx="3600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Eficiência de CPU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4176712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 inserção do Filtro de Bloom salva recursos protegendo funções pesadas, executando a filtragem a um custo constante.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4295775" y="3957637"/>
            <a:ext cx="3600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Otimização de RAM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4381500" y="4176712"/>
            <a:ext cx="3429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Em vez de brute force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o algoritmo MinHash armazena exclusivamente assinaturas compactas em memória em vez de textos completos.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8105775" y="3957637"/>
            <a:ext cx="3600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E62"/>
                </a:solidFill>
                <a:latin typeface="Merriweather"/>
                <a:ea typeface="Merriweather"/>
                <a:cs typeface="Merriweather"/>
                <a:sym typeface="Merriweather"/>
              </a:rPr>
              <a:t>Limitações Críticas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8191500" y="4176712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O Bloom Filter não permite remoções dinâmicas sem ser reconstruído. O Bayes perde completamente a coesão semântica das frases.</a:t>
            </a:r>
            <a:endParaRPr/>
          </a:p>
        </p:txBody>
      </p:sp>
      <p:pic>
        <p:nvPicPr>
          <p:cNvPr descr="image.png" id="206" name="Google Shape;2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14525" y="5662612"/>
            <a:ext cx="7429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Vantagens e Limitações do Sistema</a:t>
            </a:r>
            <a:endParaRPr/>
          </a:p>
        </p:txBody>
      </p:sp>
      <p:pic>
        <p:nvPicPr>
          <p:cNvPr id="208" name="Google Shape;20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6400" y="203120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6400" y="21097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96400" y="2109775"/>
            <a:ext cx="1219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3910801" y="2967297"/>
            <a:ext cx="437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FF9C"/>
                </a:solidFill>
                <a:latin typeface="Merriweather"/>
                <a:ea typeface="Merriweather"/>
                <a:cs typeface="Merriweather"/>
                <a:sym typeface="Merriweather"/>
              </a:rPr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