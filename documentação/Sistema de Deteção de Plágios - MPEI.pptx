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Urbanist Medium"/>
      <p:regular r:id="rId11"/>
      <p:bold r:id="rId12"/>
      <p:italic r:id="rId13"/>
      <p:boldItalic r:id="rId14"/>
    </p:embeddedFont>
    <p:embeddedFont>
      <p:font typeface="Urbanis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Medium-regular.fntdata"/><Relationship Id="rId10" Type="http://schemas.openxmlformats.org/officeDocument/2006/relationships/slide" Target="slides/slide5.xml"/><Relationship Id="rId13" Type="http://schemas.openxmlformats.org/officeDocument/2006/relationships/font" Target="fonts/UrbanistMedium-italic.fntdata"/><Relationship Id="rId12" Type="http://schemas.openxmlformats.org/officeDocument/2006/relationships/font" Target="fonts/Urbanist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regular.fntdata"/><Relationship Id="rId14" Type="http://schemas.openxmlformats.org/officeDocument/2006/relationships/font" Target="fonts/UrbanistMedium-boldItalic.fntdata"/><Relationship Id="rId17" Type="http://schemas.openxmlformats.org/officeDocument/2006/relationships/font" Target="fonts/Urbanist-italic.fntdata"/><Relationship Id="rId16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587972"/>
            <a:ext cx="11601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Sistema de </a:t>
            </a:r>
            <a:r>
              <a:rPr b="0" i="0" lang="en-US" sz="61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Deteção</a:t>
            </a:r>
            <a:r>
              <a:rPr b="0" i="0" lang="en-US" sz="61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de Plágios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21447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Projeto MPEI 2025/26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9400"/>
            <a:ext cx="10796726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66775" y="3114675"/>
            <a:ext cx="1027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Objetivo 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82600" y="3665850"/>
            <a:ext cx="10441500" cy="877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EFF9A"/>
                </a:solidFill>
              </a:rPr>
              <a:t>Desenvolvimento de uma arquitetura de deteção de plágio baseada em métodos probabilísticos, integrando </a:t>
            </a:r>
            <a:r>
              <a:rPr b="1" lang="en-US" sz="1500">
                <a:solidFill>
                  <a:srgbClr val="DEFF9A"/>
                </a:solidFill>
              </a:rPr>
              <a:t>Bloom Filter</a:t>
            </a:r>
            <a:r>
              <a:rPr lang="en-US" sz="1500">
                <a:solidFill>
                  <a:srgbClr val="DEFF9A"/>
                </a:solidFill>
              </a:rPr>
              <a:t> para triagem eficiente de duplicados, </a:t>
            </a:r>
            <a:r>
              <a:rPr b="1" lang="en-US" sz="1500">
                <a:solidFill>
                  <a:srgbClr val="DEFF9A"/>
                </a:solidFill>
              </a:rPr>
              <a:t>MinHash</a:t>
            </a:r>
            <a:r>
              <a:rPr lang="en-US" sz="1500">
                <a:solidFill>
                  <a:srgbClr val="DEFF9A"/>
                </a:solidFill>
              </a:rPr>
              <a:t> para a estimativa da similaridade de Jaccard entre documentos e </a:t>
            </a:r>
            <a:r>
              <a:rPr b="1" lang="en-US" sz="1500">
                <a:solidFill>
                  <a:srgbClr val="DEFF9A"/>
                </a:solidFill>
              </a:rPr>
              <a:t>Naïve Bayes</a:t>
            </a:r>
            <a:r>
              <a:rPr lang="en-US" sz="1500">
                <a:solidFill>
                  <a:srgbClr val="DEFF9A"/>
                </a:solidFill>
              </a:rPr>
              <a:t> para a classificação do estilo e validação de autoria.</a:t>
            </a:r>
            <a:r>
              <a:rPr lang="en-US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Sistema de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Deteção</a:t>
            </a:r>
            <a:r>
              <a:rPr lang="en-US" sz="42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42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 Plágios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335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203358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Problema Concreto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443162"/>
            <a:ext cx="5238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Evitar cálculos pesados para documentos que já sabemos serem plagiados ou "limpos".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431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14400" y="3167062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3167062"/>
            <a:ext cx="485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Membership testing de IDs de documentos.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14400" y="3433762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3433762"/>
            <a:ext cx="485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Base de dados de "clichés" (frases comuns ignoradas).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14400" y="3700462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3700462"/>
            <a:ext cx="485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Verificação instantânea de duplicados 100%.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Bloom Filter: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Triagem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52750"/>
            <a:ext cx="523875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952750"/>
            <a:ext cx="523875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866775" y="3248025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Estilometria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66775" y="3905250"/>
            <a:ext cx="4648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Classificar se o estilo de escrita corresponde ao autor declarado (perfil do aluno vs base de dados).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677025" y="3248025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Categorização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677025" y="3905250"/>
            <a:ext cx="4648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Identificar se o texto é técnico, criativo ou gerado por IA (LLM detection), ajustando o rigor da análise.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Naïve Bayes: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Autoria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95" y="2059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571500" y="762000"/>
            <a:ext cx="520065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MinHash: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Similaridade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71500" y="241935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 Core do Sistema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2828925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Utilizado para detetar "near-duplicates". Mesmo que o plagiador altere ligeiramente o texto, as assinaturas MinHash mantêm a proximidade probabilística.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3819525"/>
            <a:ext cx="495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Baseia-se em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Shingling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 e permutação de hashes para estimar o índice de Jaccard de forma eficiente em espaço.</a:t>
            </a:r>
            <a:endParaRPr/>
          </a:p>
        </p:txBody>
      </p:sp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